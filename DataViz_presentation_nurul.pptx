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9" r:id="rId2"/>
    <p:sldId id="310" r:id="rId3"/>
    <p:sldId id="299" r:id="rId4"/>
    <p:sldId id="298" r:id="rId5"/>
    <p:sldId id="300" r:id="rId6"/>
    <p:sldId id="311" r:id="rId7"/>
    <p:sldId id="305" r:id="rId8"/>
    <p:sldId id="306" r:id="rId9"/>
    <p:sldId id="307" r:id="rId10"/>
    <p:sldId id="308" r:id="rId11"/>
    <p:sldId id="313" r:id="rId12"/>
    <p:sldId id="301" r:id="rId13"/>
    <p:sldId id="304" r:id="rId14"/>
    <p:sldId id="302" r:id="rId15"/>
    <p:sldId id="303" r:id="rId16"/>
    <p:sldId id="312" r:id="rId17"/>
    <p:sldId id="31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EFE17-3A27-4460-81F9-F09EB4932BE8}" v="69" dt="2022-08-13T01:02:46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904" autoAdjust="0"/>
  </p:normalViewPr>
  <p:slideViewPr>
    <p:cSldViewPr snapToGrid="0">
      <p:cViewPr varScale="1">
        <p:scale>
          <a:sx n="62" d="100"/>
          <a:sy n="62" d="100"/>
        </p:scale>
        <p:origin x="14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C56A7-B05E-4B81-976F-4996BA9A4B8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391A51-2D05-4386-9C36-2BB7DD9650F9}">
      <dgm:prSet/>
      <dgm:spPr/>
      <dgm:t>
        <a:bodyPr/>
        <a:lstStyle/>
        <a:p>
          <a:r>
            <a:rPr lang="en-US"/>
            <a:t>Age Distribution of Customer Churn</a:t>
          </a:r>
        </a:p>
      </dgm:t>
    </dgm:pt>
    <dgm:pt modelId="{1A5A9EC9-F0F3-4FD8-A4D6-8C51A3D61B19}" type="parTrans" cxnId="{3793C457-B7A1-4ECD-A061-E6EE174032D7}">
      <dgm:prSet/>
      <dgm:spPr/>
      <dgm:t>
        <a:bodyPr/>
        <a:lstStyle/>
        <a:p>
          <a:endParaRPr lang="en-US"/>
        </a:p>
      </dgm:t>
    </dgm:pt>
    <dgm:pt modelId="{76C554E4-D27B-43EC-BC3A-4C2D5E90CBE3}" type="sibTrans" cxnId="{3793C457-B7A1-4ECD-A061-E6EE174032D7}">
      <dgm:prSet/>
      <dgm:spPr/>
      <dgm:t>
        <a:bodyPr/>
        <a:lstStyle/>
        <a:p>
          <a:endParaRPr lang="en-US"/>
        </a:p>
      </dgm:t>
    </dgm:pt>
    <dgm:pt modelId="{28BE2178-D097-4061-B3A2-A398CDD6C07E}">
      <dgm:prSet/>
      <dgm:spPr/>
      <dgm:t>
        <a:bodyPr/>
        <a:lstStyle/>
        <a:p>
          <a:r>
            <a:rPr lang="en-US" dirty="0"/>
            <a:t>Credit Limit versus  Customer (whether churned or not)</a:t>
          </a:r>
        </a:p>
      </dgm:t>
    </dgm:pt>
    <dgm:pt modelId="{3ED5F83B-BDB3-4EE3-8393-D9BB42E525FD}" type="parTrans" cxnId="{99212080-B5F6-4554-A8CF-67896F37B6D5}">
      <dgm:prSet/>
      <dgm:spPr/>
      <dgm:t>
        <a:bodyPr/>
        <a:lstStyle/>
        <a:p>
          <a:endParaRPr lang="en-US"/>
        </a:p>
      </dgm:t>
    </dgm:pt>
    <dgm:pt modelId="{E6B7382F-6BAB-40C5-B5E3-6A8E47172F89}" type="sibTrans" cxnId="{99212080-B5F6-4554-A8CF-67896F37B6D5}">
      <dgm:prSet/>
      <dgm:spPr/>
      <dgm:t>
        <a:bodyPr/>
        <a:lstStyle/>
        <a:p>
          <a:endParaRPr lang="en-US"/>
        </a:p>
      </dgm:t>
    </dgm:pt>
    <dgm:pt modelId="{710AD35F-0B99-4602-A9B7-7BF7D2011B26}">
      <dgm:prSet/>
      <dgm:spPr/>
      <dgm:t>
        <a:bodyPr/>
        <a:lstStyle/>
        <a:p>
          <a:r>
            <a:rPr lang="en-US" dirty="0"/>
            <a:t>Transaction Amount versus Number of Client </a:t>
          </a:r>
        </a:p>
      </dgm:t>
    </dgm:pt>
    <dgm:pt modelId="{B0069679-1E99-4A4A-9E95-B21F80178B28}" type="parTrans" cxnId="{0D9264F6-006F-4EC6-A76C-1B940B9A4C71}">
      <dgm:prSet/>
      <dgm:spPr/>
      <dgm:t>
        <a:bodyPr/>
        <a:lstStyle/>
        <a:p>
          <a:endParaRPr lang="en-US"/>
        </a:p>
      </dgm:t>
    </dgm:pt>
    <dgm:pt modelId="{BA99A5CD-600C-4A16-B3A9-D4E573356DB1}" type="sibTrans" cxnId="{0D9264F6-006F-4EC6-A76C-1B940B9A4C71}">
      <dgm:prSet/>
      <dgm:spPr/>
      <dgm:t>
        <a:bodyPr/>
        <a:lstStyle/>
        <a:p>
          <a:endParaRPr lang="en-US"/>
        </a:p>
      </dgm:t>
    </dgm:pt>
    <dgm:pt modelId="{1F01B4D6-2809-43EF-B217-D08319BF08F0}">
      <dgm:prSet/>
      <dgm:spPr/>
      <dgm:t>
        <a:bodyPr/>
        <a:lstStyle/>
        <a:p>
          <a:r>
            <a:rPr lang="en-US" dirty="0"/>
            <a:t>Dashboards based on types of credit cards (Blue, Silver, Gold and Platinum ):</a:t>
          </a:r>
        </a:p>
      </dgm:t>
    </dgm:pt>
    <dgm:pt modelId="{FBB7D7BC-BB5F-43D7-8F79-D35BCA36AB02}" type="parTrans" cxnId="{F6CCF71B-F0E9-43B2-9892-9D7497F789C7}">
      <dgm:prSet/>
      <dgm:spPr/>
      <dgm:t>
        <a:bodyPr/>
        <a:lstStyle/>
        <a:p>
          <a:endParaRPr lang="en-US"/>
        </a:p>
      </dgm:t>
    </dgm:pt>
    <dgm:pt modelId="{3CBE2974-0228-46AB-B363-7CFADFBB07A0}" type="sibTrans" cxnId="{F6CCF71B-F0E9-43B2-9892-9D7497F789C7}">
      <dgm:prSet/>
      <dgm:spPr/>
      <dgm:t>
        <a:bodyPr/>
        <a:lstStyle/>
        <a:p>
          <a:endParaRPr lang="en-US"/>
        </a:p>
      </dgm:t>
    </dgm:pt>
    <dgm:pt modelId="{30692CC6-9242-4CCF-A299-7251C44F27E5}">
      <dgm:prSet/>
      <dgm:spPr/>
      <dgm:t>
        <a:bodyPr/>
        <a:lstStyle/>
        <a:p>
          <a:r>
            <a:rPr lang="en-US" dirty="0"/>
            <a:t>No of Products and Transaction details</a:t>
          </a:r>
        </a:p>
      </dgm:t>
    </dgm:pt>
    <dgm:pt modelId="{60F4B509-ECF0-497D-BC25-45F84D582320}" type="parTrans" cxnId="{2BEA5B54-8332-475E-8595-298DF28BE4AA}">
      <dgm:prSet/>
      <dgm:spPr/>
      <dgm:t>
        <a:bodyPr/>
        <a:lstStyle/>
        <a:p>
          <a:endParaRPr lang="en-US"/>
        </a:p>
      </dgm:t>
    </dgm:pt>
    <dgm:pt modelId="{30CAD4A3-2848-49A7-9821-EB718D781B65}" type="sibTrans" cxnId="{2BEA5B54-8332-475E-8595-298DF28BE4AA}">
      <dgm:prSet/>
      <dgm:spPr/>
      <dgm:t>
        <a:bodyPr/>
        <a:lstStyle/>
        <a:p>
          <a:endParaRPr lang="en-US"/>
        </a:p>
      </dgm:t>
    </dgm:pt>
    <dgm:pt modelId="{E04D0205-D649-474D-B745-1D0AF404340A}">
      <dgm:prSet/>
      <dgm:spPr/>
      <dgm:t>
        <a:bodyPr/>
        <a:lstStyle/>
        <a:p>
          <a:r>
            <a:rPr lang="en-US" dirty="0"/>
            <a:t>Demographics of different type of Card holders </a:t>
          </a:r>
        </a:p>
      </dgm:t>
    </dgm:pt>
    <dgm:pt modelId="{49842140-53F0-45D7-9B7B-526A41E2C4FE}" type="parTrans" cxnId="{D76F46D0-30CD-41EF-9EAE-ADC6A9DE78CC}">
      <dgm:prSet/>
      <dgm:spPr/>
      <dgm:t>
        <a:bodyPr/>
        <a:lstStyle/>
        <a:p>
          <a:endParaRPr lang="en-US"/>
        </a:p>
      </dgm:t>
    </dgm:pt>
    <dgm:pt modelId="{16E64ABA-7646-4487-AF51-61A036F168AE}" type="sibTrans" cxnId="{D76F46D0-30CD-41EF-9EAE-ADC6A9DE78CC}">
      <dgm:prSet/>
      <dgm:spPr/>
      <dgm:t>
        <a:bodyPr/>
        <a:lstStyle/>
        <a:p>
          <a:endParaRPr lang="en-US"/>
        </a:p>
      </dgm:t>
    </dgm:pt>
    <dgm:pt modelId="{7022C624-B42F-422E-A133-C479DE4DF41E}">
      <dgm:prSet/>
      <dgm:spPr/>
      <dgm:t>
        <a:bodyPr/>
        <a:lstStyle/>
        <a:p>
          <a:r>
            <a:rPr lang="en-US"/>
            <a:t>Conclusion</a:t>
          </a:r>
        </a:p>
      </dgm:t>
    </dgm:pt>
    <dgm:pt modelId="{A67D4A5D-4ADA-4C1C-8C54-F5C78DC031EC}" type="parTrans" cxnId="{7FBBFBC9-4E7A-45F3-9347-71B32A3A75A5}">
      <dgm:prSet/>
      <dgm:spPr/>
      <dgm:t>
        <a:bodyPr/>
        <a:lstStyle/>
        <a:p>
          <a:endParaRPr lang="en-US"/>
        </a:p>
      </dgm:t>
    </dgm:pt>
    <dgm:pt modelId="{3E1294FE-725D-4586-99E2-508D71E82408}" type="sibTrans" cxnId="{7FBBFBC9-4E7A-45F3-9347-71B32A3A75A5}">
      <dgm:prSet/>
      <dgm:spPr/>
      <dgm:t>
        <a:bodyPr/>
        <a:lstStyle/>
        <a:p>
          <a:endParaRPr lang="en-US"/>
        </a:p>
      </dgm:t>
    </dgm:pt>
    <dgm:pt modelId="{E9EDA8DD-2211-4E48-BA19-C123A9B6BA08}" type="pres">
      <dgm:prSet presAssocID="{69EC56A7-B05E-4B81-976F-4996BA9A4B89}" presName="linear" presStyleCnt="0">
        <dgm:presLayoutVars>
          <dgm:animLvl val="lvl"/>
          <dgm:resizeHandles val="exact"/>
        </dgm:presLayoutVars>
      </dgm:prSet>
      <dgm:spPr/>
    </dgm:pt>
    <dgm:pt modelId="{5F695D90-7B69-4271-ABD2-610DA7CCF710}" type="pres">
      <dgm:prSet presAssocID="{23391A51-2D05-4386-9C36-2BB7DD9650F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6C201B0-8C14-4B8A-9E25-21D2BBAE99A3}" type="pres">
      <dgm:prSet presAssocID="{76C554E4-D27B-43EC-BC3A-4C2D5E90CBE3}" presName="spacer" presStyleCnt="0"/>
      <dgm:spPr/>
    </dgm:pt>
    <dgm:pt modelId="{C206C58B-88F8-4551-BF57-6D340D3FE9EC}" type="pres">
      <dgm:prSet presAssocID="{28BE2178-D097-4061-B3A2-A398CDD6C07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AE52D33-C55D-4C92-AB8A-CA339A46ECDC}" type="pres">
      <dgm:prSet presAssocID="{E6B7382F-6BAB-40C5-B5E3-6A8E47172F89}" presName="spacer" presStyleCnt="0"/>
      <dgm:spPr/>
    </dgm:pt>
    <dgm:pt modelId="{C7E40C91-7C53-4DC1-A2F9-1E371A310A4C}" type="pres">
      <dgm:prSet presAssocID="{710AD35F-0B99-4602-A9B7-7BF7D2011B2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5022EE-AB12-4B59-A002-A3A1B5B33BA6}" type="pres">
      <dgm:prSet presAssocID="{BA99A5CD-600C-4A16-B3A9-D4E573356DB1}" presName="spacer" presStyleCnt="0"/>
      <dgm:spPr/>
    </dgm:pt>
    <dgm:pt modelId="{2D6DEA15-400E-41F6-9FC2-7EAE2141C592}" type="pres">
      <dgm:prSet presAssocID="{1F01B4D6-2809-43EF-B217-D08319BF08F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3A68CB2-A4ED-4868-BCF6-9CAD72722795}" type="pres">
      <dgm:prSet presAssocID="{1F01B4D6-2809-43EF-B217-D08319BF08F0}" presName="childText" presStyleLbl="revTx" presStyleIdx="0" presStyleCnt="1">
        <dgm:presLayoutVars>
          <dgm:bulletEnabled val="1"/>
        </dgm:presLayoutVars>
      </dgm:prSet>
      <dgm:spPr/>
    </dgm:pt>
    <dgm:pt modelId="{DC2E771F-2FDC-4387-8D18-C583F4E54C65}" type="pres">
      <dgm:prSet presAssocID="{7022C624-B42F-422E-A133-C479DE4DF41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6CCF71B-F0E9-43B2-9892-9D7497F789C7}" srcId="{69EC56A7-B05E-4B81-976F-4996BA9A4B89}" destId="{1F01B4D6-2809-43EF-B217-D08319BF08F0}" srcOrd="3" destOrd="0" parTransId="{FBB7D7BC-BB5F-43D7-8F79-D35BCA36AB02}" sibTransId="{3CBE2974-0228-46AB-B363-7CFADFBB07A0}"/>
    <dgm:cxn modelId="{069EFD1E-2B32-465E-9A33-2430BB6B5E51}" type="presOf" srcId="{69EC56A7-B05E-4B81-976F-4996BA9A4B89}" destId="{E9EDA8DD-2211-4E48-BA19-C123A9B6BA08}" srcOrd="0" destOrd="0" presId="urn:microsoft.com/office/officeart/2005/8/layout/vList2"/>
    <dgm:cxn modelId="{5AD31465-3862-49BA-BE25-3EC3472B583B}" type="presOf" srcId="{7022C624-B42F-422E-A133-C479DE4DF41E}" destId="{DC2E771F-2FDC-4387-8D18-C583F4E54C65}" srcOrd="0" destOrd="0" presId="urn:microsoft.com/office/officeart/2005/8/layout/vList2"/>
    <dgm:cxn modelId="{C9639F6C-B12A-468B-8DD1-533358F8787F}" type="presOf" srcId="{23391A51-2D05-4386-9C36-2BB7DD9650F9}" destId="{5F695D90-7B69-4271-ABD2-610DA7CCF710}" srcOrd="0" destOrd="0" presId="urn:microsoft.com/office/officeart/2005/8/layout/vList2"/>
    <dgm:cxn modelId="{2BEA5B54-8332-475E-8595-298DF28BE4AA}" srcId="{1F01B4D6-2809-43EF-B217-D08319BF08F0}" destId="{30692CC6-9242-4CCF-A299-7251C44F27E5}" srcOrd="0" destOrd="0" parTransId="{60F4B509-ECF0-497D-BC25-45F84D582320}" sibTransId="{30CAD4A3-2848-49A7-9821-EB718D781B65}"/>
    <dgm:cxn modelId="{3793C457-B7A1-4ECD-A061-E6EE174032D7}" srcId="{69EC56A7-B05E-4B81-976F-4996BA9A4B89}" destId="{23391A51-2D05-4386-9C36-2BB7DD9650F9}" srcOrd="0" destOrd="0" parTransId="{1A5A9EC9-F0F3-4FD8-A4D6-8C51A3D61B19}" sibTransId="{76C554E4-D27B-43EC-BC3A-4C2D5E90CBE3}"/>
    <dgm:cxn modelId="{75C07D7A-0269-40E2-8B8B-597A1781B0CC}" type="presOf" srcId="{1F01B4D6-2809-43EF-B217-D08319BF08F0}" destId="{2D6DEA15-400E-41F6-9FC2-7EAE2141C592}" srcOrd="0" destOrd="0" presId="urn:microsoft.com/office/officeart/2005/8/layout/vList2"/>
    <dgm:cxn modelId="{A358147E-DC09-4448-AB99-F9B33590B958}" type="presOf" srcId="{28BE2178-D097-4061-B3A2-A398CDD6C07E}" destId="{C206C58B-88F8-4551-BF57-6D340D3FE9EC}" srcOrd="0" destOrd="0" presId="urn:microsoft.com/office/officeart/2005/8/layout/vList2"/>
    <dgm:cxn modelId="{99212080-B5F6-4554-A8CF-67896F37B6D5}" srcId="{69EC56A7-B05E-4B81-976F-4996BA9A4B89}" destId="{28BE2178-D097-4061-B3A2-A398CDD6C07E}" srcOrd="1" destOrd="0" parTransId="{3ED5F83B-BDB3-4EE3-8393-D9BB42E525FD}" sibTransId="{E6B7382F-6BAB-40C5-B5E3-6A8E47172F89}"/>
    <dgm:cxn modelId="{7FBBFBC9-4E7A-45F3-9347-71B32A3A75A5}" srcId="{69EC56A7-B05E-4B81-976F-4996BA9A4B89}" destId="{7022C624-B42F-422E-A133-C479DE4DF41E}" srcOrd="4" destOrd="0" parTransId="{A67D4A5D-4ADA-4C1C-8C54-F5C78DC031EC}" sibTransId="{3E1294FE-725D-4586-99E2-508D71E82408}"/>
    <dgm:cxn modelId="{D76F46D0-30CD-41EF-9EAE-ADC6A9DE78CC}" srcId="{1F01B4D6-2809-43EF-B217-D08319BF08F0}" destId="{E04D0205-D649-474D-B745-1D0AF404340A}" srcOrd="1" destOrd="0" parTransId="{49842140-53F0-45D7-9B7B-526A41E2C4FE}" sibTransId="{16E64ABA-7646-4487-AF51-61A036F168AE}"/>
    <dgm:cxn modelId="{5BAD1FE2-13FD-49C2-9930-CFB807ED7F23}" type="presOf" srcId="{E04D0205-D649-474D-B745-1D0AF404340A}" destId="{E3A68CB2-A4ED-4868-BCF6-9CAD72722795}" srcOrd="0" destOrd="1" presId="urn:microsoft.com/office/officeart/2005/8/layout/vList2"/>
    <dgm:cxn modelId="{84022DEA-FEC2-4B75-B770-59D2E68646EA}" type="presOf" srcId="{710AD35F-0B99-4602-A9B7-7BF7D2011B26}" destId="{C7E40C91-7C53-4DC1-A2F9-1E371A310A4C}" srcOrd="0" destOrd="0" presId="urn:microsoft.com/office/officeart/2005/8/layout/vList2"/>
    <dgm:cxn modelId="{0D9264F6-006F-4EC6-A76C-1B940B9A4C71}" srcId="{69EC56A7-B05E-4B81-976F-4996BA9A4B89}" destId="{710AD35F-0B99-4602-A9B7-7BF7D2011B26}" srcOrd="2" destOrd="0" parTransId="{B0069679-1E99-4A4A-9E95-B21F80178B28}" sibTransId="{BA99A5CD-600C-4A16-B3A9-D4E573356DB1}"/>
    <dgm:cxn modelId="{F757ECFF-6664-4FD7-8417-AF3482418F5D}" type="presOf" srcId="{30692CC6-9242-4CCF-A299-7251C44F27E5}" destId="{E3A68CB2-A4ED-4868-BCF6-9CAD72722795}" srcOrd="0" destOrd="0" presId="urn:microsoft.com/office/officeart/2005/8/layout/vList2"/>
    <dgm:cxn modelId="{81C07F44-03C3-46AD-BF8C-585FFED1C134}" type="presParOf" srcId="{E9EDA8DD-2211-4E48-BA19-C123A9B6BA08}" destId="{5F695D90-7B69-4271-ABD2-610DA7CCF710}" srcOrd="0" destOrd="0" presId="urn:microsoft.com/office/officeart/2005/8/layout/vList2"/>
    <dgm:cxn modelId="{F77EE23E-C9C0-4D38-B18C-B63C9D61930D}" type="presParOf" srcId="{E9EDA8DD-2211-4E48-BA19-C123A9B6BA08}" destId="{E6C201B0-8C14-4B8A-9E25-21D2BBAE99A3}" srcOrd="1" destOrd="0" presId="urn:microsoft.com/office/officeart/2005/8/layout/vList2"/>
    <dgm:cxn modelId="{64254E1D-D508-4F34-A4F3-5E40CC3762A7}" type="presParOf" srcId="{E9EDA8DD-2211-4E48-BA19-C123A9B6BA08}" destId="{C206C58B-88F8-4551-BF57-6D340D3FE9EC}" srcOrd="2" destOrd="0" presId="urn:microsoft.com/office/officeart/2005/8/layout/vList2"/>
    <dgm:cxn modelId="{2F64928A-98F5-4991-B5F7-234B54DDEF7B}" type="presParOf" srcId="{E9EDA8DD-2211-4E48-BA19-C123A9B6BA08}" destId="{1AE52D33-C55D-4C92-AB8A-CA339A46ECDC}" srcOrd="3" destOrd="0" presId="urn:microsoft.com/office/officeart/2005/8/layout/vList2"/>
    <dgm:cxn modelId="{4782B62E-506B-4B6C-8A25-10E265CB3080}" type="presParOf" srcId="{E9EDA8DD-2211-4E48-BA19-C123A9B6BA08}" destId="{C7E40C91-7C53-4DC1-A2F9-1E371A310A4C}" srcOrd="4" destOrd="0" presId="urn:microsoft.com/office/officeart/2005/8/layout/vList2"/>
    <dgm:cxn modelId="{23614B06-0634-465E-A103-E740DFAC14D7}" type="presParOf" srcId="{E9EDA8DD-2211-4E48-BA19-C123A9B6BA08}" destId="{CC5022EE-AB12-4B59-A002-A3A1B5B33BA6}" srcOrd="5" destOrd="0" presId="urn:microsoft.com/office/officeart/2005/8/layout/vList2"/>
    <dgm:cxn modelId="{D0598F4B-AAB8-4409-8623-18E0A6612B3B}" type="presParOf" srcId="{E9EDA8DD-2211-4E48-BA19-C123A9B6BA08}" destId="{2D6DEA15-400E-41F6-9FC2-7EAE2141C592}" srcOrd="6" destOrd="0" presId="urn:microsoft.com/office/officeart/2005/8/layout/vList2"/>
    <dgm:cxn modelId="{F8000244-6D08-4F7F-A94A-AD924D1EC39C}" type="presParOf" srcId="{E9EDA8DD-2211-4E48-BA19-C123A9B6BA08}" destId="{E3A68CB2-A4ED-4868-BCF6-9CAD72722795}" srcOrd="7" destOrd="0" presId="urn:microsoft.com/office/officeart/2005/8/layout/vList2"/>
    <dgm:cxn modelId="{54D48FED-B18F-45D6-826A-B17E033E540B}" type="presParOf" srcId="{E9EDA8DD-2211-4E48-BA19-C123A9B6BA08}" destId="{DC2E771F-2FDC-4387-8D18-C583F4E54C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95D90-7B69-4271-ABD2-610DA7CCF710}">
      <dsp:nvSpPr>
        <dsp:cNvPr id="0" name=""/>
        <dsp:cNvSpPr/>
      </dsp:nvSpPr>
      <dsp:spPr>
        <a:xfrm>
          <a:off x="0" y="33938"/>
          <a:ext cx="6666833" cy="91367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Age Distribution of Customer Churn</a:t>
          </a:r>
        </a:p>
      </dsp:txBody>
      <dsp:txXfrm>
        <a:off x="44602" y="78540"/>
        <a:ext cx="6577629" cy="824474"/>
      </dsp:txXfrm>
    </dsp:sp>
    <dsp:sp modelId="{C206C58B-88F8-4551-BF57-6D340D3FE9EC}">
      <dsp:nvSpPr>
        <dsp:cNvPr id="0" name=""/>
        <dsp:cNvSpPr/>
      </dsp:nvSpPr>
      <dsp:spPr>
        <a:xfrm>
          <a:off x="0" y="1013857"/>
          <a:ext cx="6666833" cy="913678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Credit Limit versus  Customer (whether churned or not)</a:t>
          </a:r>
        </a:p>
      </dsp:txBody>
      <dsp:txXfrm>
        <a:off x="44602" y="1058459"/>
        <a:ext cx="6577629" cy="824474"/>
      </dsp:txXfrm>
    </dsp:sp>
    <dsp:sp modelId="{C7E40C91-7C53-4DC1-A2F9-1E371A310A4C}">
      <dsp:nvSpPr>
        <dsp:cNvPr id="0" name=""/>
        <dsp:cNvSpPr/>
      </dsp:nvSpPr>
      <dsp:spPr>
        <a:xfrm>
          <a:off x="0" y="1993775"/>
          <a:ext cx="6666833" cy="913678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Transaction Amount versus Number of Client </a:t>
          </a:r>
        </a:p>
      </dsp:txBody>
      <dsp:txXfrm>
        <a:off x="44602" y="2038377"/>
        <a:ext cx="6577629" cy="824474"/>
      </dsp:txXfrm>
    </dsp:sp>
    <dsp:sp modelId="{2D6DEA15-400E-41F6-9FC2-7EAE2141C592}">
      <dsp:nvSpPr>
        <dsp:cNvPr id="0" name=""/>
        <dsp:cNvSpPr/>
      </dsp:nvSpPr>
      <dsp:spPr>
        <a:xfrm>
          <a:off x="0" y="2973694"/>
          <a:ext cx="6666833" cy="913678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Dashboards based on types of credit cards (Blue, Silver, Gold and Platinum ):</a:t>
          </a:r>
        </a:p>
      </dsp:txBody>
      <dsp:txXfrm>
        <a:off x="44602" y="3018296"/>
        <a:ext cx="6577629" cy="824474"/>
      </dsp:txXfrm>
    </dsp:sp>
    <dsp:sp modelId="{E3A68CB2-A4ED-4868-BCF6-9CAD72722795}">
      <dsp:nvSpPr>
        <dsp:cNvPr id="0" name=""/>
        <dsp:cNvSpPr/>
      </dsp:nvSpPr>
      <dsp:spPr>
        <a:xfrm>
          <a:off x="0" y="3887372"/>
          <a:ext cx="6666833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No of Products and Transaction details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Demographics of different type of Card holders </a:t>
          </a:r>
        </a:p>
      </dsp:txBody>
      <dsp:txXfrm>
        <a:off x="0" y="3887372"/>
        <a:ext cx="6666833" cy="618930"/>
      </dsp:txXfrm>
    </dsp:sp>
    <dsp:sp modelId="{DC2E771F-2FDC-4387-8D18-C583F4E54C65}">
      <dsp:nvSpPr>
        <dsp:cNvPr id="0" name=""/>
        <dsp:cNvSpPr/>
      </dsp:nvSpPr>
      <dsp:spPr>
        <a:xfrm>
          <a:off x="0" y="4506302"/>
          <a:ext cx="6666833" cy="913678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Conclusion</a:t>
          </a:r>
        </a:p>
      </dsp:txBody>
      <dsp:txXfrm>
        <a:off x="44602" y="4550904"/>
        <a:ext cx="6577629" cy="824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A7805D-D758-4F50-8F0A-ECD4A36035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CFC8B-4D5D-4663-87B3-C4135035C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2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dirty="0"/>
              <a:t>As per the above chart, customers who are in  younger bracket of ages (24-36) are mostly the existing customers (as shown in pink color).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dirty="0"/>
              <a:t>Majority of the Attrited or churned customers are falling within the age brackets between 40 and 48 (as reflected in blue color). 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CFC8B-4D5D-4663-87B3-C4135035C5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22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CA" dirty="0"/>
              <a:t>Existing customers are having greater credit limits from low to high (2k to 35k).  As per last slide, these customer are mostly aged between 24 and 36. That is,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/>
              <a:t>    they are building their credit history and comprehending the required credit limits.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CA" dirty="0"/>
              <a:t>Churned customers, on the other hand, are having lower credit limits on average, except high in the higher credit limit. The reason of higher credit limit in 35k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/>
              <a:t>    could be linked with established credit portfolio of these customer who are already mature in their credit history (ages between 40 and 48), but leaving due to better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/>
              <a:t>    offer from other banks or financial institutions.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CFC8B-4D5D-4663-87B3-C4135035C5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14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CA" dirty="0"/>
              <a:t> In congruence of previous slides, existing customers should have more transactions than those of the Attrited customers due to higher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/>
              <a:t>      credit limit and  spending capacity. As reflected in this slide, churned customers’ transactions are significantly less than that of the existing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CA" dirty="0"/>
              <a:t>      customers.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CFC8B-4D5D-4663-87B3-C4135035C5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09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CFC8B-4D5D-4663-87B3-C4135035C5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97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CFC8B-4D5D-4663-87B3-C4135035C5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5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CFC8B-4D5D-4663-87B3-C4135035C5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03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CFC8B-4D5D-4663-87B3-C4135035C5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9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F220-05B3-7A7D-846C-4210032B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6FE90-D838-8693-8D94-F76C086A3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58006-918A-1EAB-2B1F-E07D3D94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8304C-AFD2-72E7-267D-7219A636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7D1D2-C0CE-FD10-C5FE-B282AA8D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6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786B-3950-D6A2-C879-F72043B7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1C234-73E4-8E3F-297B-AC4552A44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2D6FC-21AB-8844-2BD3-1BC764C0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5228-E931-B005-DE92-3D04138C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C349-00F5-42D7-F18B-69448E4E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3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9474-FD1C-54C0-C78E-FE1B4D45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01C07-F02F-97B0-EBB0-99C8B4AC1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200D-6B4D-D7FC-8188-9ABB07B7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884CB-D514-8D46-BA8D-380F43AF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674B-CDAD-A0DE-31E3-204AD315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0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6E89-E3B8-B2D8-DDE7-28952DC3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009A3-7A34-424A-8C9A-78282A6BB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59D51-7AA6-5C1A-5A53-8E55E1024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33D56-60F1-D190-78E3-9800B4CA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0D074-4496-7472-8987-0B729E8C9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A2F2-FCB2-E51B-F808-0C2FAD20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7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D47F-297A-6B98-D88F-22B6F6BB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6F86F-0012-0E77-4CBC-B143A84A5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C2AA1-1B18-F788-7977-81ED5B188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7EB6F-DB89-8835-53D5-F0EEEA818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2918B-8E2E-1E8C-8B12-E905A7309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2CBE6-FCB0-ECB9-A247-AD774A52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FAECF-BF75-6016-6710-4B179AA1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DEE234-79BE-8C4B-9B36-76D5C16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3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28AA-9D35-337A-8E95-38F49ABC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7BFE7-D264-6209-62BC-0135F18C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3DA25-AE49-7C9A-1B7C-F7A110D9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27955-E755-2716-0624-3D7C6BBE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8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E7B73-5AFA-D444-0CDB-6675DEA8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9FCD4-E2C6-1A42-4523-D4142F5D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9A24C-5FDF-0E84-7B4E-9B78FF0E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6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C5AF-4A0F-A67D-81B2-100E09C41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26878-D762-2DCD-F54E-35E315BF2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FCDC7-6C25-F7DC-9A82-AB17DE724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28377-6139-6072-8F54-6ECC68EE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DE8AC-1513-DF9B-FF7B-32157164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EA3AA-89DF-E8C8-CB8F-602EE0CC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7949-20A5-5C46-93F9-E75494DD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DCE09-877F-B296-B987-D4EB744D2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A9CE4-6099-68A9-9303-0921372F8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30C67-781C-9A01-8F34-09C759E8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5F25D-D46C-8A2A-116D-C0104347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B4B1A-7228-708C-C08F-604FD813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7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EC59B-03B3-DAF3-EFBB-F9D49E14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6E59B-805B-55D3-837E-11A97C299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C90DA-0975-B4E9-67FF-C18ACCEE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036A3-755E-C628-B83F-A9433D8C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EF6D0-FBF0-8C1D-09FD-B043501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8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5F990-E5C3-49EB-4022-1304E4963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10085-AA53-905A-7C94-DD18B1B58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0B7CD-7B6D-355D-67AF-A1A08F016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81486-FBBC-4A96-9FAC-955397E3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FB7DA-20D1-E455-79BD-F8716D0C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9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BA441-5304-44CA-A5BB-C545868D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4E506-2228-09DD-7169-C7B5255D9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CF4F2-8013-AF77-9C45-4B19C0F2A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D027C-75A4-497A-B207-FDD3D3D7A93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6FABF-12F9-BCA2-E565-F5161EC50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6BFDE-2F79-78CD-FD1A-96FFA341B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86058-5D5C-43F0-B69B-0D00718DD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6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27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33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F5EC2-47CA-F7E6-EABE-98328E4E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Credit Card Customer Churn 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C522D-D208-ADBE-9223-269071DA3768}"/>
              </a:ext>
            </a:extLst>
          </p:cNvPr>
          <p:cNvSpPr txBox="1"/>
          <p:nvPr/>
        </p:nvSpPr>
        <p:spPr>
          <a:xfrm>
            <a:off x="3690492" y="6091614"/>
            <a:ext cx="7967035" cy="846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effectLst/>
              </a:rPr>
              <a:t>Dataset: 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www.kaggle.com/datasets/devkuttan/data-of-bank-customers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EB3C7-27C6-62D1-DCC3-075246234926}"/>
              </a:ext>
            </a:extLst>
          </p:cNvPr>
          <p:cNvSpPr txBox="1"/>
          <p:nvPr/>
        </p:nvSpPr>
        <p:spPr>
          <a:xfrm>
            <a:off x="4895453" y="674035"/>
            <a:ext cx="3220917" cy="14521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000" b="1" kern="1200" dirty="0">
                <a:solidFill>
                  <a:schemeClr val="tx1">
                    <a:alpha val="60000"/>
                  </a:schemeClr>
                </a:solidFill>
                <a:effectLst/>
                <a:latin typeface="+mn-lt"/>
                <a:ea typeface="+mn-ea"/>
                <a:cs typeface="+mn-cs"/>
              </a:rPr>
              <a:t>Group Members:</a:t>
            </a:r>
            <a:endParaRPr lang="en-US" sz="2000" kern="1200" dirty="0">
              <a:solidFill>
                <a:schemeClr val="tx1">
                  <a:alpha val="6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br>
              <a:rPr lang="en-US" sz="2000" kern="1200" dirty="0">
                <a:solidFill>
                  <a:schemeClr val="tx1">
                    <a:alpha val="60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2000" kern="1200" dirty="0">
                <a:solidFill>
                  <a:schemeClr val="tx1">
                    <a:alpha val="60000"/>
                  </a:schemeClr>
                </a:solidFill>
                <a:effectLst/>
                <a:latin typeface="+mn-lt"/>
                <a:ea typeface="+mn-ea"/>
                <a:cs typeface="+mn-cs"/>
              </a:rPr>
              <a:t>Ajay Panchal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0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Gourav Srinivas Bingi Suresh 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0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Musab Ahmed 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0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Nurul Chowdhury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0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Swaroop Natarajan N S</a:t>
            </a:r>
          </a:p>
        </p:txBody>
      </p:sp>
    </p:spTree>
    <p:extLst>
      <p:ext uri="{BB962C8B-B14F-4D97-AF65-F5344CB8AC3E}">
        <p14:creationId xmlns:p14="http://schemas.microsoft.com/office/powerpoint/2010/main" val="2509907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DA8F8-41BF-6F9F-BEAD-C595128F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Approach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C5F2BF39-96E6-62B5-C064-70C4A2891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649229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757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343804-8426-880C-8016-2C359D1D9F6F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Maximum number of card holders who are leaving are of 40 to 48</a:t>
            </a:r>
            <a:endParaRPr lang="en-US" sz="3700" b="0" kern="1200" cap="none" spc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37D42B24-0082-67BA-1F29-318D50B0A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988" y="1574310"/>
            <a:ext cx="886001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855ED-1349-1F5D-7C93-BC2A997B19CB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0" kern="1200" cap="none" spc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The Churned customers are greater in the lower credit limit and in the highest credit limit of 35k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670BD5-B859-E88C-2DC8-B726CAA8F2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97"/>
          <a:stretch/>
        </p:blipFill>
        <p:spPr>
          <a:xfrm>
            <a:off x="1946124" y="1966293"/>
            <a:ext cx="829975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9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70016-443C-8AFA-2675-1653D4CDFA59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0" kern="1200" cap="none" spc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Transaction Amount is less with Attired Customers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B5E4A1F-6B83-3C2C-F2E1-31DCF18F71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8"/>
          <a:stretch/>
        </p:blipFill>
        <p:spPr>
          <a:xfrm>
            <a:off x="1872169" y="1966293"/>
            <a:ext cx="8447661" cy="445216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0F71F152-4AEA-2479-66DF-65BEC886D3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2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41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4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45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Rectangle 47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49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39C76-439B-4FC7-15C0-FCAA56BF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03" y="1201002"/>
            <a:ext cx="7208197" cy="2779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0C83-6E72-EE86-E6F3-EA4C4DF06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803" y="4940490"/>
            <a:ext cx="7208197" cy="1265112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 of Products and Transaction details</a:t>
            </a:r>
          </a:p>
        </p:txBody>
      </p:sp>
      <p:sp>
        <p:nvSpPr>
          <p:cNvPr id="61" name="Rectangle 51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0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1A8DE-2F52-963E-8B00-1D89BE3809C3}"/>
              </a:ext>
            </a:extLst>
          </p:cNvPr>
          <p:cNvSpPr txBox="1"/>
          <p:nvPr/>
        </p:nvSpPr>
        <p:spPr>
          <a:xfrm>
            <a:off x="550747" y="1455420"/>
            <a:ext cx="1095173" cy="335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Blue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80EE4-16F0-65A4-9B3D-7B0391A1B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720" y="878798"/>
            <a:ext cx="6895562" cy="489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4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A3A83-9A20-EB2A-0A9D-43FC62AA95B1}"/>
              </a:ext>
            </a:extLst>
          </p:cNvPr>
          <p:cNvSpPr txBox="1"/>
          <p:nvPr/>
        </p:nvSpPr>
        <p:spPr>
          <a:xfrm>
            <a:off x="398347" y="836886"/>
            <a:ext cx="1331393" cy="5885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Silver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A9A8C1-A311-4FB8-BCF4-A7AED0303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361" y="650198"/>
            <a:ext cx="7133525" cy="506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6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A3A83-9A20-EB2A-0A9D-43FC62AA95B1}"/>
              </a:ext>
            </a:extLst>
          </p:cNvPr>
          <p:cNvSpPr txBox="1"/>
          <p:nvPr/>
        </p:nvSpPr>
        <p:spPr>
          <a:xfrm>
            <a:off x="634567" y="491112"/>
            <a:ext cx="1499033" cy="741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Gold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674B5-70F1-BE0D-84E0-C68F8399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052" y="799152"/>
            <a:ext cx="7513854" cy="525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86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53229-B50D-7616-0C4D-0564CCAA9549}"/>
              </a:ext>
            </a:extLst>
          </p:cNvPr>
          <p:cNvSpPr txBox="1"/>
          <p:nvPr/>
        </p:nvSpPr>
        <p:spPr>
          <a:xfrm>
            <a:off x="337387" y="931844"/>
            <a:ext cx="1430453" cy="638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Platinum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8E0C1-1DA1-257A-DA20-15402318D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61" y="744478"/>
            <a:ext cx="7329349" cy="513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8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39C76-439B-4FC7-15C0-FCAA56BF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0C83-6E72-EE86-E6F3-EA4C4DF06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Demographics of different type of Card holders </a:t>
            </a:r>
          </a:p>
        </p:txBody>
      </p:sp>
    </p:spTree>
    <p:extLst>
      <p:ext uri="{BB962C8B-B14F-4D97-AF65-F5344CB8AC3E}">
        <p14:creationId xmlns:p14="http://schemas.microsoft.com/office/powerpoint/2010/main" val="13305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10A3D-7BC8-0C13-B6CD-4021FDC01795}"/>
              </a:ext>
            </a:extLst>
          </p:cNvPr>
          <p:cNvSpPr txBox="1"/>
          <p:nvPr/>
        </p:nvSpPr>
        <p:spPr>
          <a:xfrm>
            <a:off x="669931" y="350520"/>
            <a:ext cx="1136009" cy="8166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Blue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0AE219AE-4078-7480-1589-66CADA62B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054" y="588194"/>
            <a:ext cx="6349686" cy="507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3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A3A83-9A20-EB2A-0A9D-43FC62AA95B1}"/>
              </a:ext>
            </a:extLst>
          </p:cNvPr>
          <p:cNvSpPr txBox="1"/>
          <p:nvPr/>
        </p:nvSpPr>
        <p:spPr>
          <a:xfrm>
            <a:off x="375487" y="511383"/>
            <a:ext cx="1361873" cy="75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Silver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7495A5B8-997E-E6C2-7794-8F236A412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222" y="361048"/>
            <a:ext cx="6852002" cy="549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6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A3A83-9A20-EB2A-0A9D-43FC62AA95B1}"/>
              </a:ext>
            </a:extLst>
          </p:cNvPr>
          <p:cNvSpPr txBox="1"/>
          <p:nvPr/>
        </p:nvSpPr>
        <p:spPr>
          <a:xfrm>
            <a:off x="284047" y="511387"/>
            <a:ext cx="1300913" cy="693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Gold</a:t>
            </a:r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1A82D9A0-A141-F99C-8FDA-1C796E6AB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422" y="511387"/>
            <a:ext cx="6673298" cy="528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81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A3A83-9A20-EB2A-0A9D-43FC62AA95B1}"/>
              </a:ext>
            </a:extLst>
          </p:cNvPr>
          <p:cNvSpPr txBox="1"/>
          <p:nvPr/>
        </p:nvSpPr>
        <p:spPr>
          <a:xfrm>
            <a:off x="230707" y="511383"/>
            <a:ext cx="1361873" cy="831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Platinum</a:t>
            </a:r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08A3A6FF-9E24-8F20-5E4A-4CB35DBA3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92" y="263409"/>
            <a:ext cx="6983048" cy="55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69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99E43-CEF0-DB46-9670-D47F0969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206" y="1608667"/>
            <a:ext cx="2823275" cy="45011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E6A12-FF13-0BD3-25C1-6208041CC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698" y="1608667"/>
            <a:ext cx="3421958" cy="450112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Recommendations: </a:t>
            </a:r>
          </a:p>
          <a:p>
            <a:pPr lvl="1"/>
            <a:r>
              <a:rPr lang="en-US" sz="2000" dirty="0"/>
              <a:t>Offer interest-free periods to clients who have lain dormant for more than a month.</a:t>
            </a:r>
          </a:p>
          <a:p>
            <a:pPr lvl="1"/>
            <a:r>
              <a:rPr lang="en-US" sz="2000" dirty="0"/>
              <a:t>Provide  </a:t>
            </a:r>
            <a:r>
              <a:rPr lang="en-US" sz="2000"/>
              <a:t>rewards program </a:t>
            </a:r>
            <a:r>
              <a:rPr lang="en-US" sz="2000" dirty="0"/>
              <a:t>to entice customers with minimal overall spending.</a:t>
            </a:r>
          </a:p>
          <a:p>
            <a:pPr lvl="1"/>
            <a:r>
              <a:rPr lang="en-US" sz="2000" dirty="0"/>
              <a:t>Provide consumers with the risk profile with discounts on further items.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C35D4D-64B1-B3DC-C044-43AB4BF41364}"/>
              </a:ext>
            </a:extLst>
          </p:cNvPr>
          <p:cNvSpPr txBox="1">
            <a:spLocks/>
          </p:cNvSpPr>
          <p:nvPr/>
        </p:nvSpPr>
        <p:spPr>
          <a:xfrm>
            <a:off x="8289696" y="1608667"/>
            <a:ext cx="3421957" cy="4501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Setbacks: </a:t>
            </a:r>
          </a:p>
          <a:p>
            <a:pPr lvl="1"/>
            <a:r>
              <a:rPr lang="en-US" sz="2000" dirty="0"/>
              <a:t>Inconsistent Data (1,600+ churned customers in 10,000+ total customers in the Dataset)</a:t>
            </a:r>
          </a:p>
          <a:p>
            <a:pPr lvl="1"/>
            <a:r>
              <a:rPr lang="en-US" sz="2000" dirty="0"/>
              <a:t>No matching date/time information</a:t>
            </a:r>
          </a:p>
          <a:p>
            <a:pPr lvl="1"/>
            <a:r>
              <a:rPr lang="en-US" sz="2000" dirty="0"/>
              <a:t>No records are kept of customers' reasons for quitting the bank.</a:t>
            </a:r>
          </a:p>
        </p:txBody>
      </p:sp>
    </p:spTree>
    <p:extLst>
      <p:ext uri="{BB962C8B-B14F-4D97-AF65-F5344CB8AC3E}">
        <p14:creationId xmlns:p14="http://schemas.microsoft.com/office/powerpoint/2010/main" val="824401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66880-F2B6-47FA-4198-7E6B38A9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5ADF7BF9-D4B3-0329-BE2F-1E5ED1165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6352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460</Words>
  <Application>Microsoft Office PowerPoint</Application>
  <PresentationFormat>Widescreen</PresentationFormat>
  <Paragraphs>59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Credit Card Customer Churn Analysis </vt:lpstr>
      <vt:lpstr>Approach</vt:lpstr>
      <vt:lpstr>PowerPoint Presentation</vt:lpstr>
      <vt:lpstr>PowerPoint Presentation</vt:lpstr>
      <vt:lpstr>PowerPoint Presentation</vt:lpstr>
      <vt:lpstr>Dashboards</vt:lpstr>
      <vt:lpstr>PowerPoint Presentation</vt:lpstr>
      <vt:lpstr>PowerPoint Presentation</vt:lpstr>
      <vt:lpstr>PowerPoint Presentation</vt:lpstr>
      <vt:lpstr>PowerPoint Presentation</vt:lpstr>
      <vt:lpstr>Dashboards</vt:lpstr>
      <vt:lpstr>PowerPoint Presentation</vt:lpstr>
      <vt:lpstr>PowerPoint Presentation</vt:lpstr>
      <vt:lpstr>PowerPoint Presentation</vt:lpstr>
      <vt:lpstr>PowerPoint Presentation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whereisfarah@gmail.com</dc:creator>
  <cp:lastModifiedBy>Nurul Chowdhury</cp:lastModifiedBy>
  <cp:revision>6</cp:revision>
  <dcterms:created xsi:type="dcterms:W3CDTF">2022-06-03T20:34:14Z</dcterms:created>
  <dcterms:modified xsi:type="dcterms:W3CDTF">2026-02-16T02:00:20Z</dcterms:modified>
</cp:coreProperties>
</file>